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  <p:embeddedFont>
      <p:font typeface="Telegraf" panose="020B0604020202020204" charset="0"/>
      <p:regular r:id="rId19"/>
    </p:embeddedFont>
    <p:embeddedFont>
      <p:font typeface="Telegraf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4043903"/>
            <a:ext cx="10797967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b="1" spc="6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MEDIMIND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838581"/>
            <a:ext cx="10797967" cy="117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spc="6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TEAM-5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7501837" cy="11072020"/>
            <a:chOff x="0" y="0"/>
            <a:chExt cx="1975792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793" cy="2916088"/>
            </a:xfrm>
            <a:custGeom>
              <a:avLst/>
              <a:gdLst/>
              <a:ahLst/>
              <a:cxnLst/>
              <a:rect l="l" t="t" r="r" b="b"/>
              <a:pathLst>
                <a:path w="1975793" h="2916088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39127" y="1133475"/>
            <a:ext cx="8403819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4417" y="3697161"/>
            <a:ext cx="8115300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Radiologists spend several hours daily manually reading and summarizing MRI, CT, and other diagnostic reports.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4417" y="5226876"/>
            <a:ext cx="811530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This leads to fatigue, reporting delays, and inconsistent report quality.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4417" y="6337491"/>
            <a:ext cx="8115300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Existing AI tools mainly detect images but don’t help with textual report summarization or structured reasoning.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4417" y="7867207"/>
            <a:ext cx="811530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Hospitals need a faster, explainable, and reliable way to process medical reports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51945" y="3691521"/>
            <a:ext cx="6895551" cy="1521052"/>
            <a:chOff x="0" y="0"/>
            <a:chExt cx="1816112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51945" y="5489893"/>
            <a:ext cx="6895551" cy="1521052"/>
            <a:chOff x="0" y="0"/>
            <a:chExt cx="1816112" cy="400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68119" y="1295079"/>
            <a:ext cx="9407130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MEDIMIND?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9338" y="3596271"/>
            <a:ext cx="7150343" cy="52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  <a:spcBef>
                <a:spcPct val="0"/>
              </a:spcBef>
            </a:pPr>
            <a:r>
              <a:rPr lang="en-US" sz="2806" spc="6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WHAT MAKES US UNIQUE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945" y="3856417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945" y="5654789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69338" y="4869725"/>
            <a:ext cx="8263532" cy="420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12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MediMind automatically summarizes medical reports into clear, structured findings using AI.</a:t>
            </a:r>
          </a:p>
          <a:p>
            <a:pPr algn="l">
              <a:lnSpc>
                <a:spcPts val="3359"/>
              </a:lnSpc>
            </a:pPr>
            <a:r>
              <a:rPr lang="en-US" sz="2400" spc="12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uses Retrieval-Augmented Generation (RAG), Gemini Embeddings, and PubMedBERT to extract key medical terms and generate explainable summaries.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12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Unlike other tools, MediMind focuses on medical text comprehension and explainability, not just image analysis — making it a unique and safe assistive solution.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27406" y="3957064"/>
            <a:ext cx="4985712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AI-Powered Report Summarization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27406" y="5949708"/>
            <a:ext cx="4985712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Explainable &amp; Reliable Output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351945" y="7288265"/>
            <a:ext cx="6895551" cy="1521052"/>
            <a:chOff x="0" y="0"/>
            <a:chExt cx="1816112" cy="4006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351945" y="7453161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27406" y="7504201"/>
            <a:ext cx="4985712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Unique Domain-Specific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27917"/>
            <a:ext cx="12765895" cy="131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SOLUTION...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630930"/>
            <a:ext cx="11012824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INNOVATION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888979"/>
            <a:ext cx="12406334" cy="211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MediMind automatically summarizes medical reports into clear, structured findings using AI.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It uses Retrieval-Augmented Generation (RAG), Gemini Embeddings, and PubMedBERT to extract key medical terms and generate explainable summaries.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314042"/>
            <a:ext cx="10268241" cy="211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Radiologists can quickly verify AI-generated summaries, saving time and improving consistency.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11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Unlike other tools, MediMind focuses on medical text comprehension and explainability, not just image analysis — making it a unique and safe assistive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 flipH="1">
            <a:off x="5240941" y="-8353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12701350" y="0"/>
                </a:moveTo>
                <a:lnTo>
                  <a:pt x="0" y="0"/>
                </a:lnTo>
                <a:lnTo>
                  <a:pt x="0" y="5382197"/>
                </a:lnTo>
                <a:lnTo>
                  <a:pt x="12701350" y="5382197"/>
                </a:lnTo>
                <a:lnTo>
                  <a:pt x="1270135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8615" y="7400147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3431" y="1028700"/>
            <a:ext cx="15601137" cy="8229600"/>
          </a:xfrm>
          <a:custGeom>
            <a:avLst/>
            <a:gdLst/>
            <a:ahLst/>
            <a:cxnLst/>
            <a:rect l="l" t="t" r="r" b="b"/>
            <a:pathLst>
              <a:path w="15601137" h="8229600">
                <a:moveTo>
                  <a:pt x="0" y="0"/>
                </a:moveTo>
                <a:lnTo>
                  <a:pt x="15601138" y="0"/>
                </a:lnTo>
                <a:lnTo>
                  <a:pt x="156011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 flipH="1">
            <a:off x="5240941" y="-8353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12701350" y="0"/>
                </a:moveTo>
                <a:lnTo>
                  <a:pt x="0" y="0"/>
                </a:lnTo>
                <a:lnTo>
                  <a:pt x="0" y="5382197"/>
                </a:lnTo>
                <a:lnTo>
                  <a:pt x="12701350" y="5382197"/>
                </a:lnTo>
                <a:lnTo>
                  <a:pt x="1270135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8615" y="7400147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99066" y="1028700"/>
            <a:ext cx="11689867" cy="8229600"/>
          </a:xfrm>
          <a:custGeom>
            <a:avLst/>
            <a:gdLst/>
            <a:ahLst/>
            <a:cxnLst/>
            <a:rect l="l" t="t" r="r" b="b"/>
            <a:pathLst>
              <a:path w="11689867" h="8229600">
                <a:moveTo>
                  <a:pt x="0" y="0"/>
                </a:moveTo>
                <a:lnTo>
                  <a:pt x="11689868" y="0"/>
                </a:lnTo>
                <a:lnTo>
                  <a:pt x="116898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 flipH="1">
            <a:off x="5240941" y="-8353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12701350" y="0"/>
                </a:moveTo>
                <a:lnTo>
                  <a:pt x="0" y="0"/>
                </a:lnTo>
                <a:lnTo>
                  <a:pt x="0" y="5382197"/>
                </a:lnTo>
                <a:lnTo>
                  <a:pt x="12701350" y="5382197"/>
                </a:lnTo>
                <a:lnTo>
                  <a:pt x="1270135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8615" y="7400147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76741" y="1003246"/>
            <a:ext cx="13334517" cy="8255054"/>
          </a:xfrm>
          <a:custGeom>
            <a:avLst/>
            <a:gdLst/>
            <a:ahLst/>
            <a:cxnLst/>
            <a:rect l="l" t="t" r="r" b="b"/>
            <a:pathLst>
              <a:path w="13334517" h="8255054">
                <a:moveTo>
                  <a:pt x="0" y="0"/>
                </a:moveTo>
                <a:lnTo>
                  <a:pt x="13334518" y="0"/>
                </a:lnTo>
                <a:lnTo>
                  <a:pt x="13334518" y="8255054"/>
                </a:lnTo>
                <a:lnTo>
                  <a:pt x="0" y="825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88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 flipH="1">
            <a:off x="5240941" y="-8353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12701350" y="0"/>
                </a:moveTo>
                <a:lnTo>
                  <a:pt x="0" y="0"/>
                </a:lnTo>
                <a:lnTo>
                  <a:pt x="0" y="5382197"/>
                </a:lnTo>
                <a:lnTo>
                  <a:pt x="12701350" y="5382197"/>
                </a:lnTo>
                <a:lnTo>
                  <a:pt x="1270135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8615" y="7400147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84875" y="1028700"/>
            <a:ext cx="3881640" cy="8215111"/>
          </a:xfrm>
          <a:custGeom>
            <a:avLst/>
            <a:gdLst/>
            <a:ahLst/>
            <a:cxnLst/>
            <a:rect l="l" t="t" r="r" b="b"/>
            <a:pathLst>
              <a:path w="3881640" h="8215111">
                <a:moveTo>
                  <a:pt x="0" y="0"/>
                </a:moveTo>
                <a:lnTo>
                  <a:pt x="3881640" y="0"/>
                </a:lnTo>
                <a:lnTo>
                  <a:pt x="3881640" y="8215111"/>
                </a:lnTo>
                <a:lnTo>
                  <a:pt x="0" y="8215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4934060"/>
            <a:ext cx="5994671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PDF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4091" y="-65341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19874" y="983384"/>
            <a:ext cx="333375" cy="333375"/>
            <a:chOff x="0" y="0"/>
            <a:chExt cx="87802" cy="878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79014" y="981594"/>
            <a:ext cx="333375" cy="333375"/>
            <a:chOff x="0" y="0"/>
            <a:chExt cx="87802" cy="878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62162" y="4268238"/>
            <a:ext cx="333375" cy="333375"/>
            <a:chOff x="0" y="0"/>
            <a:chExt cx="87802" cy="878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79014" y="4268238"/>
            <a:ext cx="333375" cy="333375"/>
            <a:chOff x="0" y="0"/>
            <a:chExt cx="87802" cy="878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429995" y="6540700"/>
            <a:ext cx="9737167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MARKET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LANDSCAPE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77585" y="1478024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36725" y="1476234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19874" y="4762878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36725" y="4762878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72086" y="4699633"/>
            <a:ext cx="3529040" cy="279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Unlike competitors, MediMind specializes in AI-driven report summarization with explainable and traceable outputs, making it safer and easier to adopt in clinical workflows.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2000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737826" y="4612523"/>
            <a:ext cx="3198274" cy="21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Existing players include Qure.ai, Synapsica, and Ferrum Health, which focus mainly on medical imaging AI, not text-based report summarization.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08858" y="1546150"/>
            <a:ext cx="3237187" cy="249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global medical AI software market is expected to exceed $12 billion by 2028, driven by the need for faster and more accurate diagnostic workflows.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67998" y="1325879"/>
            <a:ext cx="3023162" cy="249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Focused on medium-to-large diagnostic centers and hospitals in India and Southeast Asia spending ₹10–25 lakh/year on AI and reporting tools.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45076" y="4182513"/>
            <a:ext cx="3823724" cy="42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MediMind’s</a:t>
            </a:r>
            <a:r>
              <a:rPr lang="en-US" sz="2499" b="1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 Uniqueness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50513" y="895869"/>
            <a:ext cx="4145351" cy="42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 Market Potential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04805" y="984761"/>
            <a:ext cx="4156859" cy="42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Growing Market Demand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31114" y="4182513"/>
            <a:ext cx="2798886" cy="42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Competitors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599586" y="-2632068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51567"/>
            <a:ext cx="12765895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BUSINESS MODEL &amp;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6208" y="4288904"/>
            <a:ext cx="10268241" cy="68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Subscription-based SaaS — ₹10,000–₹25,000/month per hospital depending on usage.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6208" y="5889600"/>
            <a:ext cx="10268241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B2B (Business-to-Business) — targeting diagnostic centers and hospitals.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6208" y="3828529"/>
            <a:ext cx="127658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6208" y="6696546"/>
            <a:ext cx="127658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6208" y="5429225"/>
            <a:ext cx="127658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6208" y="7156921"/>
            <a:ext cx="10268241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Direct sales, hospital partnerships, and API licensing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6208" y="8081487"/>
            <a:ext cx="127658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strategy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6208" y="8573135"/>
            <a:ext cx="10268241" cy="68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Start with pilots in Tier-1 cities → gather case studies → scale via hospital networks and radiology associations.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030251" y="1133475"/>
            <a:ext cx="7609824" cy="131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MILESTONE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293397" y="3568586"/>
            <a:ext cx="5473709" cy="2431846"/>
            <a:chOff x="0" y="0"/>
            <a:chExt cx="1441635" cy="6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83371" y="6762433"/>
            <a:ext cx="5473709" cy="2431846"/>
            <a:chOff x="0" y="0"/>
            <a:chExt cx="1441635" cy="6404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83371" y="3568586"/>
            <a:ext cx="5473709" cy="2431846"/>
            <a:chOff x="0" y="0"/>
            <a:chExt cx="1441635" cy="6404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93397" y="6762433"/>
            <a:ext cx="5473709" cy="2431846"/>
            <a:chOff x="0" y="0"/>
            <a:chExt cx="1441635" cy="6404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293397" y="3813277"/>
            <a:ext cx="5473709" cy="182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Build MVP (upload → summarize → explain) – completed.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27559" y="7007123"/>
            <a:ext cx="5473709" cy="182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Final product demo and commercialization – final phase (IA2/SEE).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93397" y="7007123"/>
            <a:ext cx="5473709" cy="182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Pilot with diagnostic center and gather feedback – planned.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83371" y="3813277"/>
            <a:ext cx="5473709" cy="182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Integrate with PACS/RIS and improve UI – in progress.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3511" y="3131263"/>
            <a:ext cx="1033481" cy="283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08"/>
              </a:lnSpc>
            </a:pPr>
            <a:r>
              <a:rPr lang="en-US" sz="15649" b="1">
                <a:solidFill>
                  <a:srgbClr val="F2F7FA">
                    <a:alpha val="40000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46427" y="6295708"/>
            <a:ext cx="1347596" cy="283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08"/>
              </a:lnSpc>
            </a:pPr>
            <a:r>
              <a:rPr lang="en-US" sz="15649" b="1">
                <a:solidFill>
                  <a:srgbClr val="F2F7FA">
                    <a:alpha val="40000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34479" y="3131263"/>
            <a:ext cx="1371493" cy="283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08"/>
              </a:lnSpc>
            </a:pPr>
            <a:r>
              <a:rPr lang="en-US" sz="15649" b="1">
                <a:solidFill>
                  <a:srgbClr val="F2F7FA">
                    <a:alpha val="40000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71339" y="6295708"/>
            <a:ext cx="1317825" cy="283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08"/>
              </a:lnSpc>
            </a:pPr>
            <a:r>
              <a:rPr lang="en-US" sz="15649" b="1">
                <a:solidFill>
                  <a:srgbClr val="F2F7FA">
                    <a:alpha val="40000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0705">
            <a:off x="1423346" y="-1948290"/>
            <a:ext cx="15441309" cy="6543255"/>
          </a:xfrm>
          <a:custGeom>
            <a:avLst/>
            <a:gdLst/>
            <a:ahLst/>
            <a:cxnLst/>
            <a:rect l="l" t="t" r="r" b="b"/>
            <a:pathLst>
              <a:path w="15441309" h="6543255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21043" y="4898687"/>
            <a:ext cx="9445915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0997" y="8911970"/>
            <a:ext cx="4966006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hello@reallygreatsite.com</a:t>
            </a:r>
          </a:p>
        </p:txBody>
      </p:sp>
      <p:sp>
        <p:nvSpPr>
          <p:cNvPr id="5" name="Freeform 5"/>
          <p:cNvSpPr/>
          <p:nvPr/>
        </p:nvSpPr>
        <p:spPr>
          <a:xfrm>
            <a:off x="9144000" y="6209713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9"/>
                </a:lnTo>
                <a:lnTo>
                  <a:pt x="0" y="850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Custom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Telegraf</vt:lpstr>
      <vt:lpstr>Canva Sans Bold</vt:lpstr>
      <vt:lpstr>Arial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Shodwe</dc:title>
  <cp:lastModifiedBy>Suraj H</cp:lastModifiedBy>
  <cp:revision>2</cp:revision>
  <dcterms:created xsi:type="dcterms:W3CDTF">2006-08-16T00:00:00Z</dcterms:created>
  <dcterms:modified xsi:type="dcterms:W3CDTF">2025-10-29T12:20:19Z</dcterms:modified>
  <dc:identifier>DAG3GwSzpl4</dc:identifier>
</cp:coreProperties>
</file>